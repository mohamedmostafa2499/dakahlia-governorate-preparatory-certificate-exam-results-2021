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0" r:id="rId4"/>
    <p:sldId id="257" r:id="rId5"/>
    <p:sldId id="258" r:id="rId6"/>
    <p:sldId id="259" r:id="rId7"/>
    <p:sldId id="260" r:id="rId8"/>
    <p:sldId id="261" r:id="rId9"/>
    <p:sldId id="262" r:id="rId10"/>
    <p:sldId id="272" r:id="rId11"/>
    <p:sldId id="263" r:id="rId12"/>
    <p:sldId id="264" r:id="rId13"/>
    <p:sldId id="265" r:id="rId14"/>
    <p:sldId id="266" r:id="rId15"/>
    <p:sldId id="267" r:id="rId16"/>
    <p:sldId id="268"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5958C-CCE9-B13C-E3AC-DA54F5BD4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ADB056-6CC0-1BCA-1450-C6B004A2C6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16FEAA-0170-F7D5-1A2F-B3DC7852D049}"/>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5" name="Footer Placeholder 4">
            <a:extLst>
              <a:ext uri="{FF2B5EF4-FFF2-40B4-BE49-F238E27FC236}">
                <a16:creationId xmlns:a16="http://schemas.microsoft.com/office/drawing/2014/main" id="{86CA3018-6FB7-A4B4-7865-4279D3C06C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49921-9CDE-901B-E451-797559FEA7A9}"/>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2688220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D8FD2-B834-010E-7F73-6263B9E5E1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60AFFA-1222-F914-1DB0-3299505208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96FB5E-F189-F10C-794F-7F2B2508DBB7}"/>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5" name="Footer Placeholder 4">
            <a:extLst>
              <a:ext uri="{FF2B5EF4-FFF2-40B4-BE49-F238E27FC236}">
                <a16:creationId xmlns:a16="http://schemas.microsoft.com/office/drawing/2014/main" id="{097FD3C6-7AEA-1348-9D6E-3843B4D88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03DA9-5284-F4AE-AE40-D4A1088A721F}"/>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1031317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8A76D-3622-4530-130A-2F8E6120A8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827B1E-CF6C-6C9E-5E84-6DCAB8D97D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A78412-8763-9565-19E2-F583B1532702}"/>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5" name="Footer Placeholder 4">
            <a:extLst>
              <a:ext uri="{FF2B5EF4-FFF2-40B4-BE49-F238E27FC236}">
                <a16:creationId xmlns:a16="http://schemas.microsoft.com/office/drawing/2014/main" id="{43E844E9-C539-30E0-DEA6-8056D4735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D11B8-A4F1-3A40-53FB-9FF86FB91755}"/>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353604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9FE7-8282-0476-62EE-493AED4449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B02FC4-3E72-81C0-4320-D1F7690E6F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AB98DC-F308-9517-1BF7-B69F151A50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D03B87-5D62-B609-8092-6625935FF8C3}"/>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6" name="Footer Placeholder 5">
            <a:extLst>
              <a:ext uri="{FF2B5EF4-FFF2-40B4-BE49-F238E27FC236}">
                <a16:creationId xmlns:a16="http://schemas.microsoft.com/office/drawing/2014/main" id="{49CF9A1E-C5C5-502E-B632-B23B6B4023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7B4670-3BD6-1ADD-AD43-F05BAC57C5BD}"/>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3809318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05A3A-8B41-A6AF-BC32-0BEC84C384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4C619B-8820-B35A-57D4-4A83F6C8F7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1C5DFB-3BEF-61D1-DD2D-2630EC74AC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31F432-8388-05D7-F154-F5828FA4FD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477A91-CCF0-536C-3714-BA7477A1FD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9D53F4-CF81-D26B-9C42-14B1D38DD9BF}"/>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8" name="Footer Placeholder 7">
            <a:extLst>
              <a:ext uri="{FF2B5EF4-FFF2-40B4-BE49-F238E27FC236}">
                <a16:creationId xmlns:a16="http://schemas.microsoft.com/office/drawing/2014/main" id="{C599926E-D1E8-513F-DED9-6F3DF60463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A9441D-C53F-E958-5DBE-B3D975E57888}"/>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350030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A5E7-7962-A485-0927-D92B907D22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B502FD-AA88-58FF-20AD-3A7F10BC27FE}"/>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4" name="Footer Placeholder 3">
            <a:extLst>
              <a:ext uri="{FF2B5EF4-FFF2-40B4-BE49-F238E27FC236}">
                <a16:creationId xmlns:a16="http://schemas.microsoft.com/office/drawing/2014/main" id="{3307201E-2ABA-DC79-7DBD-DEDA5CD5DC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F5F48E-A49D-6621-2CF3-DCAF86FAE75B}"/>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148705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9B754B-51AD-4760-ACA9-526537EF39DC}"/>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3" name="Footer Placeholder 2">
            <a:extLst>
              <a:ext uri="{FF2B5EF4-FFF2-40B4-BE49-F238E27FC236}">
                <a16:creationId xmlns:a16="http://schemas.microsoft.com/office/drawing/2014/main" id="{C8BD8EBA-8256-358B-0CBD-3BC2BDDAD6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C7E382-C92E-1E37-46C2-87BF7DC52F39}"/>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1138695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BC065-5398-E9E6-4B34-DF19BF2BE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9BE6F1-53CF-E480-9A12-ED771A8533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6F820F-36F8-A8DD-39F5-805121300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F14B1-DDE7-F494-28E7-8B9F403BE2E7}"/>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6" name="Footer Placeholder 5">
            <a:extLst>
              <a:ext uri="{FF2B5EF4-FFF2-40B4-BE49-F238E27FC236}">
                <a16:creationId xmlns:a16="http://schemas.microsoft.com/office/drawing/2014/main" id="{C0362D7E-D131-847E-EB38-0034FC7D5F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9BAD8E-EBB8-0F78-85B2-EB3983542238}"/>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767709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35BFA-1987-167F-3555-E6194B8B0C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70BEC9-E867-FA64-B212-85A0C5132D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C9BFEE-242E-B18B-E9C9-FB948AE17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35B999-E366-2ABE-6481-90FCA32FD466}"/>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6" name="Footer Placeholder 5">
            <a:extLst>
              <a:ext uri="{FF2B5EF4-FFF2-40B4-BE49-F238E27FC236}">
                <a16:creationId xmlns:a16="http://schemas.microsoft.com/office/drawing/2014/main" id="{651B1734-23CD-3147-EE4C-81F4085C4A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F89E7B-A3C9-5D4A-ABB1-36BC796E3A1B}"/>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226762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5A43-5443-0185-B617-C574F9D407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F0980C-2279-9A6E-CD1B-4D7AC40F1A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C05E0-2C97-183D-37D2-2844E0F24A5B}"/>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5" name="Footer Placeholder 4">
            <a:extLst>
              <a:ext uri="{FF2B5EF4-FFF2-40B4-BE49-F238E27FC236}">
                <a16:creationId xmlns:a16="http://schemas.microsoft.com/office/drawing/2014/main" id="{8B29B6F9-7F14-94BB-4FBC-3D163BD370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B46F13-9340-3670-8163-615E805434EE}"/>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3506257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B98AEE-BFDC-75E4-5D3A-37B64B7CA5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D3B793-8EDE-1856-1041-5FE8B4BDFE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326D20-7208-D618-A898-DD4C740477A7}"/>
              </a:ext>
            </a:extLst>
          </p:cNvPr>
          <p:cNvSpPr>
            <a:spLocks noGrp="1"/>
          </p:cNvSpPr>
          <p:nvPr>
            <p:ph type="dt" sz="half" idx="10"/>
          </p:nvPr>
        </p:nvSpPr>
        <p:spPr/>
        <p:txBody>
          <a:bodyPr/>
          <a:lstStyle/>
          <a:p>
            <a:fld id="{4594D93B-58B0-4A95-873E-FD32A2334D66}" type="datetimeFigureOut">
              <a:rPr lang="en-US" smtClean="0"/>
              <a:t>1/22/2026</a:t>
            </a:fld>
            <a:endParaRPr lang="en-US"/>
          </a:p>
        </p:txBody>
      </p:sp>
      <p:sp>
        <p:nvSpPr>
          <p:cNvPr id="5" name="Footer Placeholder 4">
            <a:extLst>
              <a:ext uri="{FF2B5EF4-FFF2-40B4-BE49-F238E27FC236}">
                <a16:creationId xmlns:a16="http://schemas.microsoft.com/office/drawing/2014/main" id="{68602A30-489B-D9CA-CC5E-DD9A77AA5D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D89440-5C4A-EDCD-469F-2D636213BB7C}"/>
              </a:ext>
            </a:extLst>
          </p:cNvPr>
          <p:cNvSpPr>
            <a:spLocks noGrp="1"/>
          </p:cNvSpPr>
          <p:nvPr>
            <p:ph type="sldNum" sz="quarter" idx="12"/>
          </p:nvPr>
        </p:nvSpPr>
        <p:spPr/>
        <p:txBody>
          <a:bodyPr/>
          <a:lstStyle/>
          <a:p>
            <a:fld id="{ED99EB75-D2E3-4D25-871E-B0169E79FA5B}" type="slidenum">
              <a:rPr lang="en-US" smtClean="0"/>
              <a:t>‹#›</a:t>
            </a:fld>
            <a:endParaRPr lang="en-US"/>
          </a:p>
        </p:txBody>
      </p:sp>
    </p:spTree>
    <p:extLst>
      <p:ext uri="{BB962C8B-B14F-4D97-AF65-F5344CB8AC3E}">
        <p14:creationId xmlns:p14="http://schemas.microsoft.com/office/powerpoint/2010/main" val="1385872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0F6792-FA8B-2916-9587-9A0BC0702C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E22ECB-CB27-D30F-D0E6-0888D41BB8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AA436F-1C1C-EB83-21CE-E4AD4ADFFC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94D93B-58B0-4A95-873E-FD32A2334D66}" type="datetimeFigureOut">
              <a:rPr lang="en-US" smtClean="0"/>
              <a:t>1/22/2026</a:t>
            </a:fld>
            <a:endParaRPr lang="en-US"/>
          </a:p>
        </p:txBody>
      </p:sp>
      <p:sp>
        <p:nvSpPr>
          <p:cNvPr id="5" name="Footer Placeholder 4">
            <a:extLst>
              <a:ext uri="{FF2B5EF4-FFF2-40B4-BE49-F238E27FC236}">
                <a16:creationId xmlns:a16="http://schemas.microsoft.com/office/drawing/2014/main" id="{F69B10FA-8382-566B-57AE-A25B52C7EC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901BD9-F705-CAB0-1270-5D0A64064A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9EB75-D2E3-4D25-871E-B0169E79FA5B}" type="slidenum">
              <a:rPr lang="en-US" smtClean="0"/>
              <a:t>‹#›</a:t>
            </a:fld>
            <a:endParaRPr lang="en-US"/>
          </a:p>
        </p:txBody>
      </p:sp>
    </p:spTree>
    <p:extLst>
      <p:ext uri="{BB962C8B-B14F-4D97-AF65-F5344CB8AC3E}">
        <p14:creationId xmlns:p14="http://schemas.microsoft.com/office/powerpoint/2010/main" val="1732852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EB08-7814-FA61-B6A8-1BBEB42AB082}"/>
              </a:ext>
            </a:extLst>
          </p:cNvPr>
          <p:cNvSpPr>
            <a:spLocks noGrp="1"/>
          </p:cNvSpPr>
          <p:nvPr>
            <p:ph type="ctrTitle"/>
          </p:nvPr>
        </p:nvSpPr>
        <p:spPr/>
        <p:txBody>
          <a:bodyPr>
            <a:normAutofit/>
          </a:bodyPr>
          <a:lstStyle/>
          <a:p>
            <a:r>
              <a:rPr lang="en-US" sz="4400" dirty="0" err="1"/>
              <a:t>Dakahlia</a:t>
            </a:r>
            <a:r>
              <a:rPr lang="en-US" sz="4400" dirty="0"/>
              <a:t> Governorate Preparatory Certificate Exam Results 2021</a:t>
            </a:r>
            <a:endParaRPr lang="en-US" dirty="0"/>
          </a:p>
        </p:txBody>
      </p:sp>
      <p:sp>
        <p:nvSpPr>
          <p:cNvPr id="3" name="Subtitle 2">
            <a:extLst>
              <a:ext uri="{FF2B5EF4-FFF2-40B4-BE49-F238E27FC236}">
                <a16:creationId xmlns:a16="http://schemas.microsoft.com/office/drawing/2014/main" id="{86D586D9-BE4E-4836-2671-BE89A934F56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732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43AAE-0C88-2EAD-E28B-EAC685630F8C}"/>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3A8223BD-CE08-7375-94D7-8AA104C987BD}"/>
              </a:ext>
            </a:extLst>
          </p:cNvPr>
          <p:cNvSpPr>
            <a:spLocks noGrp="1"/>
          </p:cNvSpPr>
          <p:nvPr>
            <p:ph idx="1"/>
          </p:nvPr>
        </p:nvSpPr>
        <p:spPr/>
        <p:txBody>
          <a:bodyPr>
            <a:normAutofit lnSpcReduction="10000"/>
          </a:bodyPr>
          <a:lstStyle/>
          <a:p>
            <a:pPr marL="0" indent="0">
              <a:buNone/>
            </a:pPr>
            <a:r>
              <a:rPr lang="en-US" dirty="0"/>
              <a:t>- The project analyzes Preparatory Certificate Exam Results of </a:t>
            </a:r>
            <a:r>
              <a:rPr lang="en-US" dirty="0" err="1"/>
              <a:t>Dakahlia</a:t>
            </a:r>
            <a:r>
              <a:rPr lang="en-US" dirty="0"/>
              <a:t> Governorate.</a:t>
            </a:r>
          </a:p>
          <a:p>
            <a:pPr marL="0" indent="0">
              <a:buNone/>
            </a:pPr>
            <a:r>
              <a:rPr lang="en-US" dirty="0"/>
              <a:t>- Data was extracted from Excel, transformed and loaded into SQL Server using SSIS (ETL process).</a:t>
            </a:r>
          </a:p>
          <a:p>
            <a:pPr marL="0" indent="0">
              <a:buNone/>
            </a:pPr>
            <a:r>
              <a:rPr lang="en-US" dirty="0"/>
              <a:t>- SQL was used for data cleaning, transformation, and calculating percentages.</a:t>
            </a:r>
          </a:p>
          <a:p>
            <a:pPr marL="0" indent="0">
              <a:buNone/>
            </a:pPr>
            <a:r>
              <a:rPr lang="en-US" dirty="0"/>
              <a:t>- Power BI was used to build interactive dashboards with insights at student, school, department, and governorate levels.</a:t>
            </a:r>
          </a:p>
          <a:p>
            <a:pPr marL="0" indent="0">
              <a:buNone/>
            </a:pPr>
            <a:r>
              <a:rPr lang="en-US" dirty="0"/>
              <a:t>- Focuses on success/failure rates, top/bottom schools, and grade distribution.</a:t>
            </a:r>
          </a:p>
        </p:txBody>
      </p:sp>
    </p:spTree>
    <p:extLst>
      <p:ext uri="{BB962C8B-B14F-4D97-AF65-F5344CB8AC3E}">
        <p14:creationId xmlns:p14="http://schemas.microsoft.com/office/powerpoint/2010/main" val="2849104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EB5D6-15A3-8D4C-3224-2F0612EE5FCD}"/>
              </a:ext>
            </a:extLst>
          </p:cNvPr>
          <p:cNvSpPr>
            <a:spLocks noGrp="1"/>
          </p:cNvSpPr>
          <p:nvPr>
            <p:ph type="title"/>
          </p:nvPr>
        </p:nvSpPr>
        <p:spPr/>
        <p:txBody>
          <a:bodyPr/>
          <a:lstStyle/>
          <a:p>
            <a:r>
              <a:rPr lang="en-US" dirty="0"/>
              <a:t>Used Tools</a:t>
            </a:r>
            <a:br>
              <a:rPr lang="en-US" dirty="0"/>
            </a:br>
            <a:endParaRPr lang="en-US" dirty="0"/>
          </a:p>
        </p:txBody>
      </p:sp>
      <p:sp>
        <p:nvSpPr>
          <p:cNvPr id="7" name="Content Placeholder 6">
            <a:extLst>
              <a:ext uri="{FF2B5EF4-FFF2-40B4-BE49-F238E27FC236}">
                <a16:creationId xmlns:a16="http://schemas.microsoft.com/office/drawing/2014/main" id="{A1DFA89F-3BC6-E769-78A9-1CE4AF907085}"/>
              </a:ext>
            </a:extLst>
          </p:cNvPr>
          <p:cNvSpPr>
            <a:spLocks noGrp="1"/>
          </p:cNvSpPr>
          <p:nvPr>
            <p:ph idx="1"/>
          </p:nvPr>
        </p:nvSpPr>
        <p:spPr/>
        <p:txBody>
          <a:bodyPr/>
          <a:lstStyle/>
          <a:p>
            <a:pPr marL="0" indent="0">
              <a:buNone/>
            </a:pPr>
            <a:r>
              <a:rPr lang="en-US" dirty="0"/>
              <a:t>- Excel → Source exam results data.</a:t>
            </a:r>
          </a:p>
          <a:p>
            <a:pPr marL="0" indent="0">
              <a:buNone/>
            </a:pPr>
            <a:r>
              <a:rPr lang="en-US" dirty="0"/>
              <a:t>-  SQL Server → Data cleaning, transformation, and percentage calculations.</a:t>
            </a:r>
          </a:p>
          <a:p>
            <a:pPr marL="0" indent="0">
              <a:buNone/>
            </a:pPr>
            <a:r>
              <a:rPr lang="en-US" dirty="0"/>
              <a:t>- SSIS (SQL Server Integration Services) → ETL process (loading and transforming Excel data into SQL).</a:t>
            </a:r>
          </a:p>
          <a:p>
            <a:pPr marL="0" indent="0">
              <a:buNone/>
            </a:pPr>
            <a:r>
              <a:rPr lang="en-US" dirty="0"/>
              <a:t>- Power BI → Dashboard creation, interactive charts, and KPIs.</a:t>
            </a:r>
          </a:p>
          <a:p>
            <a:pPr marL="0" indent="0">
              <a:buNone/>
            </a:pPr>
            <a:endParaRPr lang="en-US" dirty="0"/>
          </a:p>
        </p:txBody>
      </p:sp>
    </p:spTree>
    <p:extLst>
      <p:ext uri="{BB962C8B-B14F-4D97-AF65-F5344CB8AC3E}">
        <p14:creationId xmlns:p14="http://schemas.microsoft.com/office/powerpoint/2010/main" val="3948878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1FD1-1170-1812-F873-8CC058287B50}"/>
              </a:ext>
            </a:extLst>
          </p:cNvPr>
          <p:cNvSpPr>
            <a:spLocks noGrp="1"/>
          </p:cNvSpPr>
          <p:nvPr>
            <p:ph type="title"/>
          </p:nvPr>
        </p:nvSpPr>
        <p:spPr/>
        <p:txBody>
          <a:bodyPr>
            <a:normAutofit fontScale="90000"/>
          </a:bodyPr>
          <a:lstStyle/>
          <a:p>
            <a:r>
              <a:rPr lang="en-US" dirty="0"/>
              <a:t>I found an Excel sheet containing the preparatory certificate exam results for </a:t>
            </a:r>
            <a:r>
              <a:rPr lang="en-US" dirty="0" err="1"/>
              <a:t>Dakahlia</a:t>
            </a:r>
            <a:r>
              <a:rPr lang="en-US" dirty="0"/>
              <a:t> Governorate </a:t>
            </a:r>
            <a:br>
              <a:rPr lang="en-US" dirty="0"/>
            </a:br>
            <a:br>
              <a:rPr lang="en-US" dirty="0"/>
            </a:br>
            <a:endParaRPr lang="en-US" dirty="0"/>
          </a:p>
        </p:txBody>
      </p:sp>
      <p:pic>
        <p:nvPicPr>
          <p:cNvPr id="5" name="Content Placeholder 4">
            <a:extLst>
              <a:ext uri="{FF2B5EF4-FFF2-40B4-BE49-F238E27FC236}">
                <a16:creationId xmlns:a16="http://schemas.microsoft.com/office/drawing/2014/main" id="{F8B3CE12-9C76-4497-4911-A4658D1DE7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2755" y="1825625"/>
            <a:ext cx="10486490" cy="4351338"/>
          </a:xfrm>
        </p:spPr>
      </p:pic>
    </p:spTree>
    <p:extLst>
      <p:ext uri="{BB962C8B-B14F-4D97-AF65-F5344CB8AC3E}">
        <p14:creationId xmlns:p14="http://schemas.microsoft.com/office/powerpoint/2010/main" val="2608870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E0320-2778-2697-40BE-6751F4E2369B}"/>
              </a:ext>
            </a:extLst>
          </p:cNvPr>
          <p:cNvSpPr>
            <a:spLocks noGrp="1"/>
          </p:cNvSpPr>
          <p:nvPr>
            <p:ph type="title"/>
          </p:nvPr>
        </p:nvSpPr>
        <p:spPr/>
        <p:txBody>
          <a:bodyPr/>
          <a:lstStyle/>
          <a:p>
            <a:r>
              <a:rPr lang="en-US" dirty="0"/>
              <a:t>Then in </a:t>
            </a:r>
            <a:r>
              <a:rPr lang="en-US" dirty="0" err="1"/>
              <a:t>sql</a:t>
            </a:r>
            <a:r>
              <a:rPr lang="en-US" dirty="0"/>
              <a:t> server I prepare my fact and dim</a:t>
            </a:r>
          </a:p>
        </p:txBody>
      </p:sp>
      <p:pic>
        <p:nvPicPr>
          <p:cNvPr id="5" name="Content Placeholder 4">
            <a:extLst>
              <a:ext uri="{FF2B5EF4-FFF2-40B4-BE49-F238E27FC236}">
                <a16:creationId xmlns:a16="http://schemas.microsoft.com/office/drawing/2014/main" id="{6F2F109D-DEAE-87A0-76D8-5DBB5FD26196}"/>
              </a:ext>
            </a:extLst>
          </p:cNvPr>
          <p:cNvPicPr>
            <a:picLocks noGrp="1" noChangeAspect="1"/>
          </p:cNvPicPr>
          <p:nvPr>
            <p:ph idx="1"/>
          </p:nvPr>
        </p:nvPicPr>
        <p:blipFill>
          <a:blip r:embed="rId2"/>
          <a:stretch>
            <a:fillRect/>
          </a:stretch>
        </p:blipFill>
        <p:spPr>
          <a:xfrm>
            <a:off x="2882998" y="1825625"/>
            <a:ext cx="6426003" cy="4351338"/>
          </a:xfrm>
          <a:prstGeom prst="rect">
            <a:avLst/>
          </a:prstGeom>
        </p:spPr>
      </p:pic>
    </p:spTree>
    <p:extLst>
      <p:ext uri="{BB962C8B-B14F-4D97-AF65-F5344CB8AC3E}">
        <p14:creationId xmlns:p14="http://schemas.microsoft.com/office/powerpoint/2010/main" val="3900429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7C5A-BC0A-7901-8672-318F9C710AE1}"/>
              </a:ext>
            </a:extLst>
          </p:cNvPr>
          <p:cNvSpPr>
            <a:spLocks noGrp="1"/>
          </p:cNvSpPr>
          <p:nvPr>
            <p:ph type="title"/>
          </p:nvPr>
        </p:nvSpPr>
        <p:spPr/>
        <p:txBody>
          <a:bodyPr>
            <a:noAutofit/>
          </a:bodyPr>
          <a:lstStyle/>
          <a:p>
            <a:r>
              <a:rPr lang="en-US" sz="1600" dirty="0"/>
              <a:t>In SQL, I added four additional columns:</a:t>
            </a:r>
            <a:br>
              <a:rPr lang="en-US" sz="1600" dirty="0"/>
            </a:br>
            <a:r>
              <a:rPr lang="en-US" sz="1600" dirty="0"/>
              <a:t>Material Full Mark – to store the maximum grade for each subject.</a:t>
            </a:r>
            <a:br>
              <a:rPr lang="en-US" sz="1600" dirty="0"/>
            </a:br>
            <a:r>
              <a:rPr lang="en-US" sz="1600" dirty="0"/>
              <a:t>Student Percentage per Subject – calculated based on the student’s grade relative to the subject’s full mark.</a:t>
            </a:r>
            <a:br>
              <a:rPr lang="en-US" sz="1600" dirty="0"/>
            </a:br>
            <a:r>
              <a:rPr lang="en-US" sz="1600" dirty="0"/>
              <a:t>Full Total Mark – representing the maximum possible total mark across all subjects.</a:t>
            </a:r>
            <a:br>
              <a:rPr lang="en-US" sz="1600" dirty="0"/>
            </a:br>
            <a:r>
              <a:rPr lang="en-US" sz="1600" dirty="0"/>
              <a:t>Student Total Percentage – showing the student’s overall performance compared to the full total mark.</a:t>
            </a:r>
            <a:br>
              <a:rPr lang="en-US" sz="1600" dirty="0"/>
            </a:br>
            <a:r>
              <a:rPr lang="en-US" sz="1600" dirty="0"/>
              <a:t>These columns help in analyzing students’ performance by allowing us to measure both subject-level and overall percentages."</a:t>
            </a:r>
          </a:p>
        </p:txBody>
      </p:sp>
      <p:pic>
        <p:nvPicPr>
          <p:cNvPr id="5" name="Content Placeholder 4">
            <a:extLst>
              <a:ext uri="{FF2B5EF4-FFF2-40B4-BE49-F238E27FC236}">
                <a16:creationId xmlns:a16="http://schemas.microsoft.com/office/drawing/2014/main" id="{68A13EBF-5221-4F4F-C34A-BE4B1D0C4BDA}"/>
              </a:ext>
            </a:extLst>
          </p:cNvPr>
          <p:cNvPicPr>
            <a:picLocks noGrp="1" noChangeAspect="1"/>
          </p:cNvPicPr>
          <p:nvPr>
            <p:ph idx="1"/>
          </p:nvPr>
        </p:nvPicPr>
        <p:blipFill>
          <a:blip r:embed="rId2"/>
          <a:stretch>
            <a:fillRect/>
          </a:stretch>
        </p:blipFill>
        <p:spPr>
          <a:xfrm>
            <a:off x="1046921" y="2333466"/>
            <a:ext cx="10515600" cy="3633831"/>
          </a:xfrm>
          <a:prstGeom prst="rect">
            <a:avLst/>
          </a:prstGeom>
        </p:spPr>
      </p:pic>
    </p:spTree>
    <p:extLst>
      <p:ext uri="{BB962C8B-B14F-4D97-AF65-F5344CB8AC3E}">
        <p14:creationId xmlns:p14="http://schemas.microsoft.com/office/powerpoint/2010/main" val="3383829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89C4B-5B2B-768B-1D4F-D4C7B5E5619A}"/>
              </a:ext>
            </a:extLst>
          </p:cNvPr>
          <p:cNvSpPr>
            <a:spLocks noGrp="1"/>
          </p:cNvSpPr>
          <p:nvPr>
            <p:ph type="title"/>
          </p:nvPr>
        </p:nvSpPr>
        <p:spPr/>
        <p:txBody>
          <a:bodyPr/>
          <a:lstStyle/>
          <a:p>
            <a:r>
              <a:rPr lang="en-US" dirty="0"/>
              <a:t>Then using </a:t>
            </a:r>
            <a:r>
              <a:rPr lang="en-US" dirty="0" err="1"/>
              <a:t>ssis</a:t>
            </a:r>
            <a:r>
              <a:rPr lang="en-US" dirty="0"/>
              <a:t> tool to make </a:t>
            </a:r>
            <a:r>
              <a:rPr lang="en-US" dirty="0" err="1"/>
              <a:t>etl</a:t>
            </a:r>
            <a:r>
              <a:rPr lang="en-US" dirty="0"/>
              <a:t> to my data to </a:t>
            </a:r>
            <a:r>
              <a:rPr lang="en-US" dirty="0" err="1"/>
              <a:t>sql</a:t>
            </a:r>
            <a:r>
              <a:rPr lang="en-US" dirty="0"/>
              <a:t> server</a:t>
            </a:r>
          </a:p>
        </p:txBody>
      </p:sp>
      <p:pic>
        <p:nvPicPr>
          <p:cNvPr id="9" name="Content Placeholder 8">
            <a:extLst>
              <a:ext uri="{FF2B5EF4-FFF2-40B4-BE49-F238E27FC236}">
                <a16:creationId xmlns:a16="http://schemas.microsoft.com/office/drawing/2014/main" id="{E4645F46-A305-F12F-453C-CFC3B6A7553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3084095"/>
            <a:ext cx="5181600" cy="1834397"/>
          </a:xfrm>
        </p:spPr>
      </p:pic>
      <p:pic>
        <p:nvPicPr>
          <p:cNvPr id="7" name="Content Placeholder 6">
            <a:extLst>
              <a:ext uri="{FF2B5EF4-FFF2-40B4-BE49-F238E27FC236}">
                <a16:creationId xmlns:a16="http://schemas.microsoft.com/office/drawing/2014/main" id="{73F35729-C1EE-147E-AD84-4842263BE8F8}"/>
              </a:ext>
            </a:extLst>
          </p:cNvPr>
          <p:cNvPicPr>
            <a:picLocks noGrp="1" noChangeAspect="1"/>
          </p:cNvPicPr>
          <p:nvPr>
            <p:ph sz="half" idx="2"/>
          </p:nvPr>
        </p:nvPicPr>
        <p:blipFill>
          <a:blip r:embed="rId3"/>
          <a:stretch>
            <a:fillRect/>
          </a:stretch>
        </p:blipFill>
        <p:spPr>
          <a:xfrm>
            <a:off x="6172200" y="1900645"/>
            <a:ext cx="5181600" cy="4201297"/>
          </a:xfrm>
          <a:prstGeom prst="rect">
            <a:avLst/>
          </a:prstGeom>
        </p:spPr>
      </p:pic>
    </p:spTree>
    <p:extLst>
      <p:ext uri="{BB962C8B-B14F-4D97-AF65-F5344CB8AC3E}">
        <p14:creationId xmlns:p14="http://schemas.microsoft.com/office/powerpoint/2010/main" val="2593533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BE96-7578-9C31-E217-10214921D43C}"/>
              </a:ext>
            </a:extLst>
          </p:cNvPr>
          <p:cNvSpPr>
            <a:spLocks noGrp="1"/>
          </p:cNvSpPr>
          <p:nvPr>
            <p:ph type="title"/>
          </p:nvPr>
        </p:nvSpPr>
        <p:spPr/>
        <p:txBody>
          <a:bodyPr/>
          <a:lstStyle/>
          <a:p>
            <a:r>
              <a:rPr lang="en-US" dirty="0"/>
              <a:t>Now my data is ready to analysis</a:t>
            </a:r>
          </a:p>
        </p:txBody>
      </p:sp>
      <p:pic>
        <p:nvPicPr>
          <p:cNvPr id="7" name="Content Placeholder 6">
            <a:extLst>
              <a:ext uri="{FF2B5EF4-FFF2-40B4-BE49-F238E27FC236}">
                <a16:creationId xmlns:a16="http://schemas.microsoft.com/office/drawing/2014/main" id="{31A94D25-8D77-B4FF-A903-DD804B574340}"/>
              </a:ext>
            </a:extLst>
          </p:cNvPr>
          <p:cNvPicPr>
            <a:picLocks noGrp="1" noChangeAspect="1"/>
          </p:cNvPicPr>
          <p:nvPr>
            <p:ph idx="1"/>
          </p:nvPr>
        </p:nvPicPr>
        <p:blipFill>
          <a:blip r:embed="rId2"/>
          <a:stretch>
            <a:fillRect/>
          </a:stretch>
        </p:blipFill>
        <p:spPr>
          <a:xfrm>
            <a:off x="2633967" y="1825625"/>
            <a:ext cx="6924065" cy="4351338"/>
          </a:xfrm>
          <a:prstGeom prst="rect">
            <a:avLst/>
          </a:prstGeom>
        </p:spPr>
      </p:pic>
    </p:spTree>
    <p:extLst>
      <p:ext uri="{BB962C8B-B14F-4D97-AF65-F5344CB8AC3E}">
        <p14:creationId xmlns:p14="http://schemas.microsoft.com/office/powerpoint/2010/main" val="3682890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AAE3F-3DAA-49A5-CC8F-D4598A3AD76D}"/>
              </a:ext>
            </a:extLst>
          </p:cNvPr>
          <p:cNvSpPr>
            <a:spLocks noGrp="1"/>
          </p:cNvSpPr>
          <p:nvPr>
            <p:ph type="title"/>
          </p:nvPr>
        </p:nvSpPr>
        <p:spPr/>
        <p:txBody>
          <a:bodyPr/>
          <a:lstStyle/>
          <a:p>
            <a:r>
              <a:rPr lang="en-US" dirty="0"/>
              <a:t>I Make analysis by power Bi Desktop</a:t>
            </a:r>
          </a:p>
        </p:txBody>
      </p:sp>
      <p:sp>
        <p:nvSpPr>
          <p:cNvPr id="3" name="Content Placeholder 2">
            <a:extLst>
              <a:ext uri="{FF2B5EF4-FFF2-40B4-BE49-F238E27FC236}">
                <a16:creationId xmlns:a16="http://schemas.microsoft.com/office/drawing/2014/main" id="{A7AA7163-8463-3063-4293-DC37B7129B4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9968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C3CD8-4FE7-DB54-30FA-8CE29D005C27}"/>
              </a:ext>
            </a:extLst>
          </p:cNvPr>
          <p:cNvSpPr>
            <a:spLocks noGrp="1"/>
          </p:cNvSpPr>
          <p:nvPr>
            <p:ph type="title"/>
          </p:nvPr>
        </p:nvSpPr>
        <p:spPr/>
        <p:txBody>
          <a:bodyPr/>
          <a:lstStyle/>
          <a:p>
            <a:r>
              <a:rPr lang="en-US" dirty="0"/>
              <a:t>Dashboard </a:t>
            </a:r>
          </a:p>
        </p:txBody>
      </p:sp>
      <p:pic>
        <p:nvPicPr>
          <p:cNvPr id="7" name="Content Placeholder 6">
            <a:extLst>
              <a:ext uri="{FF2B5EF4-FFF2-40B4-BE49-F238E27FC236}">
                <a16:creationId xmlns:a16="http://schemas.microsoft.com/office/drawing/2014/main" id="{4E3C448E-8F84-F0C4-0387-EF8BC9D28462}"/>
              </a:ext>
            </a:extLst>
          </p:cNvPr>
          <p:cNvPicPr>
            <a:picLocks noGrp="1" noChangeAspect="1"/>
          </p:cNvPicPr>
          <p:nvPr>
            <p:ph sz="half" idx="1"/>
          </p:nvPr>
        </p:nvPicPr>
        <p:blipFill>
          <a:blip r:embed="rId2"/>
          <a:stretch>
            <a:fillRect/>
          </a:stretch>
        </p:blipFill>
        <p:spPr>
          <a:xfrm>
            <a:off x="2194726" y="1825625"/>
            <a:ext cx="2468547" cy="4351338"/>
          </a:xfrm>
          <a:prstGeom prst="rect">
            <a:avLst/>
          </a:prstGeom>
        </p:spPr>
      </p:pic>
      <p:pic>
        <p:nvPicPr>
          <p:cNvPr id="9" name="Content Placeholder 8">
            <a:extLst>
              <a:ext uri="{FF2B5EF4-FFF2-40B4-BE49-F238E27FC236}">
                <a16:creationId xmlns:a16="http://schemas.microsoft.com/office/drawing/2014/main" id="{C0E49530-595F-4545-4881-FB86F6FFC0A9}"/>
              </a:ext>
            </a:extLst>
          </p:cNvPr>
          <p:cNvPicPr>
            <a:picLocks noGrp="1" noChangeAspect="1"/>
          </p:cNvPicPr>
          <p:nvPr>
            <p:ph sz="half" idx="2"/>
          </p:nvPr>
        </p:nvPicPr>
        <p:blipFill>
          <a:blip r:embed="rId3"/>
          <a:stretch>
            <a:fillRect/>
          </a:stretch>
        </p:blipFill>
        <p:spPr>
          <a:xfrm>
            <a:off x="7516368" y="1825625"/>
            <a:ext cx="2493263" cy="4351338"/>
          </a:xfrm>
          <a:prstGeom prst="rect">
            <a:avLst/>
          </a:prstGeom>
        </p:spPr>
      </p:pic>
    </p:spTree>
    <p:extLst>
      <p:ext uri="{BB962C8B-B14F-4D97-AF65-F5344CB8AC3E}">
        <p14:creationId xmlns:p14="http://schemas.microsoft.com/office/powerpoint/2010/main" val="620297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24A09-7B66-BE6F-DBE6-C07E479E4623}"/>
              </a:ext>
            </a:extLst>
          </p:cNvPr>
          <p:cNvSpPr>
            <a:spLocks noGrp="1"/>
          </p:cNvSpPr>
          <p:nvPr>
            <p:ph type="title"/>
          </p:nvPr>
        </p:nvSpPr>
        <p:spPr/>
        <p:txBody>
          <a:bodyPr>
            <a:normAutofit/>
          </a:bodyPr>
          <a:lstStyle/>
          <a:p>
            <a:r>
              <a:rPr lang="en-US" sz="2000" dirty="0"/>
              <a:t>In my dashboard I make </a:t>
            </a:r>
            <a:r>
              <a:rPr lang="en-US" sz="2000" dirty="0" err="1"/>
              <a:t>treemap</a:t>
            </a:r>
            <a:r>
              <a:rPr lang="en-US" sz="2000" dirty="0"/>
              <a:t> have all education department and number of school In that department and I make card to show the total student in all dep and it used also with school or any dep selected and number of dep in that governorate and number of school in all dep and any dep selected and success rate for all governorate or any selected dep or school and also fall rate  </a:t>
            </a:r>
          </a:p>
        </p:txBody>
      </p:sp>
      <p:pic>
        <p:nvPicPr>
          <p:cNvPr id="7" name="Content Placeholder 6">
            <a:extLst>
              <a:ext uri="{FF2B5EF4-FFF2-40B4-BE49-F238E27FC236}">
                <a16:creationId xmlns:a16="http://schemas.microsoft.com/office/drawing/2014/main" id="{C18E09CF-66DC-1CFB-7368-753A7AC9DF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691240"/>
            <a:ext cx="5181600" cy="2620107"/>
          </a:xfrm>
        </p:spPr>
      </p:pic>
      <p:pic>
        <p:nvPicPr>
          <p:cNvPr id="9" name="Content Placeholder 8">
            <a:extLst>
              <a:ext uri="{FF2B5EF4-FFF2-40B4-BE49-F238E27FC236}">
                <a16:creationId xmlns:a16="http://schemas.microsoft.com/office/drawing/2014/main" id="{CD8EFF74-9C87-E2E6-1BD5-441B084D4D3A}"/>
              </a:ext>
            </a:extLst>
          </p:cNvPr>
          <p:cNvPicPr>
            <a:picLocks noGrp="1" noChangeAspect="1"/>
          </p:cNvPicPr>
          <p:nvPr>
            <p:ph sz="half" idx="2"/>
          </p:nvPr>
        </p:nvPicPr>
        <p:blipFill>
          <a:blip r:embed="rId3"/>
          <a:stretch>
            <a:fillRect/>
          </a:stretch>
        </p:blipFill>
        <p:spPr>
          <a:xfrm>
            <a:off x="6172200" y="2608295"/>
            <a:ext cx="5181600" cy="2785997"/>
          </a:xfrm>
          <a:prstGeom prst="rect">
            <a:avLst/>
          </a:prstGeom>
        </p:spPr>
      </p:pic>
    </p:spTree>
    <p:extLst>
      <p:ext uri="{BB962C8B-B14F-4D97-AF65-F5344CB8AC3E}">
        <p14:creationId xmlns:p14="http://schemas.microsoft.com/office/powerpoint/2010/main" val="1744683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E103C-8060-AB0A-9271-3763A8193709}"/>
              </a:ext>
            </a:extLst>
          </p:cNvPr>
          <p:cNvSpPr>
            <a:spLocks noGrp="1"/>
          </p:cNvSpPr>
          <p:nvPr>
            <p:ph type="title"/>
          </p:nvPr>
        </p:nvSpPr>
        <p:spPr/>
        <p:txBody>
          <a:bodyPr>
            <a:noAutofit/>
          </a:bodyPr>
          <a:lstStyle/>
          <a:p>
            <a:r>
              <a:rPr lang="en-US" sz="2000" dirty="0"/>
              <a:t>In that dashboard I have also table have all schools in that dep with all succeed rate in all material and success rate and if we press in any dep it only show the schools in that dep and I also have two pie chart one of them to show the count of student have &lt;50 and &gt;50 in all dep and in selected dep or selected school and the other show the success rate and fall rate in all dep ,dep selected and in school selected </a:t>
            </a:r>
          </a:p>
        </p:txBody>
      </p:sp>
      <p:pic>
        <p:nvPicPr>
          <p:cNvPr id="8" name="Content Placeholder 7">
            <a:extLst>
              <a:ext uri="{FF2B5EF4-FFF2-40B4-BE49-F238E27FC236}">
                <a16:creationId xmlns:a16="http://schemas.microsoft.com/office/drawing/2014/main" id="{0CB2533B-7D73-6762-E038-3BD622FA9CF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18460"/>
            <a:ext cx="5181600" cy="3765668"/>
          </a:xfrm>
        </p:spPr>
      </p:pic>
      <p:pic>
        <p:nvPicPr>
          <p:cNvPr id="6" name="Content Placeholder 5">
            <a:extLst>
              <a:ext uri="{FF2B5EF4-FFF2-40B4-BE49-F238E27FC236}">
                <a16:creationId xmlns:a16="http://schemas.microsoft.com/office/drawing/2014/main" id="{F9BC9C86-1DCC-7477-F7F0-22E56120D46B}"/>
              </a:ext>
            </a:extLst>
          </p:cNvPr>
          <p:cNvPicPr>
            <a:picLocks noGrp="1" noChangeAspect="1"/>
          </p:cNvPicPr>
          <p:nvPr>
            <p:ph sz="half" idx="2"/>
          </p:nvPr>
        </p:nvPicPr>
        <p:blipFill>
          <a:blip r:embed="rId3"/>
          <a:stretch>
            <a:fillRect/>
          </a:stretch>
        </p:blipFill>
        <p:spPr>
          <a:xfrm>
            <a:off x="6172200" y="2248762"/>
            <a:ext cx="5181600" cy="3505064"/>
          </a:xfrm>
          <a:prstGeom prst="rect">
            <a:avLst/>
          </a:prstGeom>
        </p:spPr>
      </p:pic>
    </p:spTree>
    <p:extLst>
      <p:ext uri="{BB962C8B-B14F-4D97-AF65-F5344CB8AC3E}">
        <p14:creationId xmlns:p14="http://schemas.microsoft.com/office/powerpoint/2010/main" val="3033356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6AD58E-2BBA-1F97-CF85-5AD2F9090E4B}"/>
              </a:ext>
            </a:extLst>
          </p:cNvPr>
          <p:cNvSpPr>
            <a:spLocks noGrp="1"/>
          </p:cNvSpPr>
          <p:nvPr>
            <p:ph type="title"/>
          </p:nvPr>
        </p:nvSpPr>
        <p:spPr/>
        <p:txBody>
          <a:bodyPr>
            <a:normAutofit/>
          </a:bodyPr>
          <a:lstStyle/>
          <a:p>
            <a:r>
              <a:rPr lang="en-US" sz="2800" dirty="0"/>
              <a:t>beside I have table to show all school and schools in selected dep I have also dropdown contain all schools and have search button to search in any school we want to show all details about it</a:t>
            </a:r>
          </a:p>
        </p:txBody>
      </p:sp>
      <p:pic>
        <p:nvPicPr>
          <p:cNvPr id="8" name="Content Placeholder 7">
            <a:extLst>
              <a:ext uri="{FF2B5EF4-FFF2-40B4-BE49-F238E27FC236}">
                <a16:creationId xmlns:a16="http://schemas.microsoft.com/office/drawing/2014/main" id="{711BBAC5-E9E6-89B3-6435-78EC18076DAE}"/>
              </a:ext>
            </a:extLst>
          </p:cNvPr>
          <p:cNvPicPr>
            <a:picLocks noGrp="1" noChangeAspect="1"/>
          </p:cNvPicPr>
          <p:nvPr>
            <p:ph idx="1"/>
          </p:nvPr>
        </p:nvPicPr>
        <p:blipFill>
          <a:blip r:embed="rId2"/>
          <a:stretch>
            <a:fillRect/>
          </a:stretch>
        </p:blipFill>
        <p:spPr>
          <a:xfrm>
            <a:off x="3409575" y="2834318"/>
            <a:ext cx="5372850" cy="2333951"/>
          </a:xfrm>
          <a:prstGeom prst="rect">
            <a:avLst/>
          </a:prstGeom>
        </p:spPr>
      </p:pic>
    </p:spTree>
    <p:extLst>
      <p:ext uri="{BB962C8B-B14F-4D97-AF65-F5344CB8AC3E}">
        <p14:creationId xmlns:p14="http://schemas.microsoft.com/office/powerpoint/2010/main" val="1910218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7D53C-781C-620C-1C3E-B60D2BBE35AA}"/>
              </a:ext>
            </a:extLst>
          </p:cNvPr>
          <p:cNvSpPr>
            <a:spLocks noGrp="1"/>
          </p:cNvSpPr>
          <p:nvPr>
            <p:ph type="title"/>
          </p:nvPr>
        </p:nvSpPr>
        <p:spPr/>
        <p:txBody>
          <a:bodyPr>
            <a:noAutofit/>
          </a:bodyPr>
          <a:lstStyle/>
          <a:p>
            <a:r>
              <a:rPr lang="en-US" sz="3200" dirty="0"/>
              <a:t>I also have two bar charts: one shows the education department with the highest success rate, and the other shows the maximum grade percentage in each department.</a:t>
            </a:r>
          </a:p>
        </p:txBody>
      </p:sp>
      <p:pic>
        <p:nvPicPr>
          <p:cNvPr id="5" name="Content Placeholder 4">
            <a:extLst>
              <a:ext uri="{FF2B5EF4-FFF2-40B4-BE49-F238E27FC236}">
                <a16:creationId xmlns:a16="http://schemas.microsoft.com/office/drawing/2014/main" id="{7D668D95-BE46-B34D-9146-1C10ECFC371B}"/>
              </a:ext>
            </a:extLst>
          </p:cNvPr>
          <p:cNvPicPr>
            <a:picLocks noGrp="1" noChangeAspect="1"/>
          </p:cNvPicPr>
          <p:nvPr>
            <p:ph idx="1"/>
          </p:nvPr>
        </p:nvPicPr>
        <p:blipFill>
          <a:blip r:embed="rId2"/>
          <a:stretch>
            <a:fillRect/>
          </a:stretch>
        </p:blipFill>
        <p:spPr>
          <a:xfrm>
            <a:off x="3386736" y="1825625"/>
            <a:ext cx="5418527" cy="4351338"/>
          </a:xfrm>
          <a:prstGeom prst="rect">
            <a:avLst/>
          </a:prstGeom>
        </p:spPr>
      </p:pic>
    </p:spTree>
    <p:extLst>
      <p:ext uri="{BB962C8B-B14F-4D97-AF65-F5344CB8AC3E}">
        <p14:creationId xmlns:p14="http://schemas.microsoft.com/office/powerpoint/2010/main" val="1768906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01F95-1841-1BEE-7A14-33E59F03F088}"/>
              </a:ext>
            </a:extLst>
          </p:cNvPr>
          <p:cNvSpPr>
            <a:spLocks noGrp="1"/>
          </p:cNvSpPr>
          <p:nvPr>
            <p:ph type="title"/>
          </p:nvPr>
        </p:nvSpPr>
        <p:spPr/>
        <p:txBody>
          <a:bodyPr>
            <a:noAutofit/>
          </a:bodyPr>
          <a:lstStyle/>
          <a:p>
            <a:r>
              <a:rPr lang="en-US" sz="1800" dirty="0"/>
              <a:t> I also have three column charts: Two of them shows the best schools and the worst schools based on success and failure rates, and another shows the top 10 schools where students achieved the highest grades. These charts work for all departments or for a selected department from the </a:t>
            </a:r>
            <a:r>
              <a:rPr lang="en-US" sz="1800" dirty="0" err="1"/>
              <a:t>treemap</a:t>
            </a:r>
            <a:r>
              <a:rPr lang="en-US" sz="1800" dirty="0"/>
              <a:t> or any other department-related chart.</a:t>
            </a:r>
          </a:p>
        </p:txBody>
      </p:sp>
      <p:pic>
        <p:nvPicPr>
          <p:cNvPr id="5" name="Content Placeholder 4">
            <a:extLst>
              <a:ext uri="{FF2B5EF4-FFF2-40B4-BE49-F238E27FC236}">
                <a16:creationId xmlns:a16="http://schemas.microsoft.com/office/drawing/2014/main" id="{92E19A47-6AAC-A023-8BBF-FD235B6E6A78}"/>
              </a:ext>
            </a:extLst>
          </p:cNvPr>
          <p:cNvPicPr>
            <a:picLocks noGrp="1" noChangeAspect="1"/>
          </p:cNvPicPr>
          <p:nvPr>
            <p:ph sz="half" idx="1"/>
          </p:nvPr>
        </p:nvPicPr>
        <p:blipFill>
          <a:blip r:embed="rId2"/>
          <a:stretch>
            <a:fillRect/>
          </a:stretch>
        </p:blipFill>
        <p:spPr>
          <a:xfrm>
            <a:off x="1689712" y="1825625"/>
            <a:ext cx="3478576" cy="4351338"/>
          </a:xfrm>
          <a:prstGeom prst="rect">
            <a:avLst/>
          </a:prstGeom>
        </p:spPr>
      </p:pic>
      <p:pic>
        <p:nvPicPr>
          <p:cNvPr id="11" name="Content Placeholder 10">
            <a:extLst>
              <a:ext uri="{FF2B5EF4-FFF2-40B4-BE49-F238E27FC236}">
                <a16:creationId xmlns:a16="http://schemas.microsoft.com/office/drawing/2014/main" id="{EEC3A821-4578-8024-8A93-5225775EEEF7}"/>
              </a:ext>
            </a:extLst>
          </p:cNvPr>
          <p:cNvPicPr>
            <a:picLocks noGrp="1" noChangeAspect="1"/>
          </p:cNvPicPr>
          <p:nvPr>
            <p:ph sz="half" idx="2"/>
          </p:nvPr>
        </p:nvPicPr>
        <p:blipFill>
          <a:blip r:embed="rId3"/>
          <a:stretch>
            <a:fillRect/>
          </a:stretch>
        </p:blipFill>
        <p:spPr>
          <a:xfrm>
            <a:off x="7344353" y="1825625"/>
            <a:ext cx="2837293" cy="4351338"/>
          </a:xfrm>
          <a:prstGeom prst="rect">
            <a:avLst/>
          </a:prstGeom>
        </p:spPr>
      </p:pic>
    </p:spTree>
    <p:extLst>
      <p:ext uri="{BB962C8B-B14F-4D97-AF65-F5344CB8AC3E}">
        <p14:creationId xmlns:p14="http://schemas.microsoft.com/office/powerpoint/2010/main" val="3424894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C77B2-71EA-B01D-95A3-2A85B2A898BB}"/>
              </a:ext>
            </a:extLst>
          </p:cNvPr>
          <p:cNvSpPr>
            <a:spLocks noGrp="1"/>
          </p:cNvSpPr>
          <p:nvPr>
            <p:ph type="title"/>
          </p:nvPr>
        </p:nvSpPr>
        <p:spPr/>
        <p:txBody>
          <a:bodyPr>
            <a:noAutofit/>
          </a:bodyPr>
          <a:lstStyle/>
          <a:p>
            <a:r>
              <a:rPr lang="en-US" sz="2000" dirty="0"/>
              <a:t> In the last dashboard, I have a table that contains all school details, including student names, grades in all subjects, and the school name. This table is fully interactive with all charts: if a department is selected, it displays all schools in that department with their students’ details; if a school is selected, it shows all details about its students.</a:t>
            </a:r>
          </a:p>
        </p:txBody>
      </p:sp>
      <p:pic>
        <p:nvPicPr>
          <p:cNvPr id="5" name="Content Placeholder 4">
            <a:extLst>
              <a:ext uri="{FF2B5EF4-FFF2-40B4-BE49-F238E27FC236}">
                <a16:creationId xmlns:a16="http://schemas.microsoft.com/office/drawing/2014/main" id="{C9ACA8B8-5B09-C4A2-71F2-08DA8C66D772}"/>
              </a:ext>
            </a:extLst>
          </p:cNvPr>
          <p:cNvPicPr>
            <a:picLocks noGrp="1" noChangeAspect="1"/>
          </p:cNvPicPr>
          <p:nvPr>
            <p:ph idx="1"/>
          </p:nvPr>
        </p:nvPicPr>
        <p:blipFill>
          <a:blip r:embed="rId2"/>
          <a:stretch>
            <a:fillRect/>
          </a:stretch>
        </p:blipFill>
        <p:spPr>
          <a:xfrm>
            <a:off x="2413739" y="1825625"/>
            <a:ext cx="7364522" cy="4351338"/>
          </a:xfrm>
          <a:prstGeom prst="rect">
            <a:avLst/>
          </a:prstGeom>
        </p:spPr>
      </p:pic>
    </p:spTree>
    <p:extLst>
      <p:ext uri="{BB962C8B-B14F-4D97-AF65-F5344CB8AC3E}">
        <p14:creationId xmlns:p14="http://schemas.microsoft.com/office/powerpoint/2010/main" val="3340143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70E7F-EFE2-7FEF-0958-7458E032960D}"/>
              </a:ext>
            </a:extLst>
          </p:cNvPr>
          <p:cNvSpPr>
            <a:spLocks noGrp="1"/>
          </p:cNvSpPr>
          <p:nvPr>
            <p:ph type="title"/>
          </p:nvPr>
        </p:nvSpPr>
        <p:spPr/>
        <p:txBody>
          <a:bodyPr/>
          <a:lstStyle/>
          <a:p>
            <a:r>
              <a:rPr lang="en-US" dirty="0"/>
              <a:t>Conclusion</a:t>
            </a:r>
          </a:p>
        </p:txBody>
      </p:sp>
      <p:sp>
        <p:nvSpPr>
          <p:cNvPr id="4" name="Rectangle 1">
            <a:extLst>
              <a:ext uri="{FF2B5EF4-FFF2-40B4-BE49-F238E27FC236}">
                <a16:creationId xmlns:a16="http://schemas.microsoft.com/office/drawing/2014/main" id="{C95BF160-9FC5-5D67-0E88-A38E8A9BF817}"/>
              </a:ext>
            </a:extLst>
          </p:cNvPr>
          <p:cNvSpPr>
            <a:spLocks noGrp="1" noChangeArrowheads="1"/>
          </p:cNvSpPr>
          <p:nvPr>
            <p:ph idx="1"/>
          </p:nvPr>
        </p:nvSpPr>
        <p:spPr bwMode="auto">
          <a:xfrm>
            <a:off x="838200" y="3401129"/>
            <a:ext cx="93753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 The dashboard enables clear performance comparison across departments and schools.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 It identifies top-performing and underperforming schools.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 Provides detailed student-level insights for decision-makers.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Helps the education sector in monitoring, evaluation, and strategic planning</a:t>
            </a:r>
          </a:p>
        </p:txBody>
      </p:sp>
    </p:spTree>
    <p:extLst>
      <p:ext uri="{BB962C8B-B14F-4D97-AF65-F5344CB8AC3E}">
        <p14:creationId xmlns:p14="http://schemas.microsoft.com/office/powerpoint/2010/main" val="1357392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701</Words>
  <Application>Microsoft Office PowerPoint</Application>
  <PresentationFormat>Widescreen</PresentationFormat>
  <Paragraphs>30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Dakahlia Governorate Preparatory Certificate Exam Results 2021</vt:lpstr>
      <vt:lpstr>Overview</vt:lpstr>
      <vt:lpstr>Used Tools </vt:lpstr>
      <vt:lpstr>I found an Excel sheet containing the preparatory certificate exam results for Dakahlia Governorate   </vt:lpstr>
      <vt:lpstr>Then in sql server I prepare my fact and dim</vt:lpstr>
      <vt:lpstr>In SQL, I added four additional columns: Material Full Mark – to store the maximum grade for each subject. Student Percentage per Subject – calculated based on the student’s grade relative to the subject’s full mark. Full Total Mark – representing the maximum possible total mark across all subjects. Student Total Percentage – showing the student’s overall performance compared to the full total mark. These columns help in analyzing students’ performance by allowing us to measure both subject-level and overall percentages."</vt:lpstr>
      <vt:lpstr>Then using ssis tool to make etl to my data to sql server</vt:lpstr>
      <vt:lpstr>Now my data is ready to analysis</vt:lpstr>
      <vt:lpstr>I Make analysis by power Bi Desktop</vt:lpstr>
      <vt:lpstr>Dashboard </vt:lpstr>
      <vt:lpstr>In my dashboard I make treemap have all education department and number of school In that department and I make card to show the total student in all dep and it used also with school or any dep selected and number of dep in that governorate and number of school in all dep and any dep selected and success rate for all governorate or any selected dep or school and also fall rate  </vt:lpstr>
      <vt:lpstr>In that dashboard I have also table have all schools in that dep with all succeed rate in all material and success rate and if we press in any dep it only show the schools in that dep and I also have two pie chart one of them to show the count of student have &lt;50 and &gt;50 in all dep and in selected dep or selected school and the other show the success rate and fall rate in all dep ,dep selected and in school selected </vt:lpstr>
      <vt:lpstr>beside I have table to show all school and schools in selected dep I have also dropdown contain all schools and have search button to search in any school we want to show all details about it</vt:lpstr>
      <vt:lpstr>I also have two bar charts: one shows the education department with the highest success rate, and the other shows the maximum grade percentage in each department.</vt:lpstr>
      <vt:lpstr> I also have three column charts: Two of them shows the best schools and the worst schools based on success and failure rates, and another shows the top 10 schools where students achieved the highest grades. These charts work for all departments or for a selected department from the treemap or any other department-related chart.</vt:lpstr>
      <vt:lpstr> In the last dashboard, I have a table that contains all school details, including student names, grades in all subjects, and the school name. This table is fully interactive with all charts: if a department is selected, it displays all schools in that department with their students’ details; if a school is selected, it shows all details about its students.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mostafa</dc:creator>
  <cp:lastModifiedBy>mohamed mostafa</cp:lastModifiedBy>
  <cp:revision>8</cp:revision>
  <dcterms:created xsi:type="dcterms:W3CDTF">2025-08-27T01:31:31Z</dcterms:created>
  <dcterms:modified xsi:type="dcterms:W3CDTF">2026-01-22T17:36:29Z</dcterms:modified>
</cp:coreProperties>
</file>